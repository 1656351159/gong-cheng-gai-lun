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447" r:id="rId3"/>
    <p:sldId id="457" r:id="rId5"/>
    <p:sldId id="650" r:id="rId6"/>
    <p:sldId id="651" r:id="rId7"/>
    <p:sldId id="653" r:id="rId8"/>
    <p:sldId id="648" r:id="rId9"/>
    <p:sldId id="458" r:id="rId10"/>
    <p:sldId id="646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6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70C0"/>
    <a:srgbClr val="005CC9"/>
    <a:srgbClr val="F7F8FA"/>
    <a:srgbClr val="CDCDCD"/>
    <a:srgbClr val="E2E2E2"/>
    <a:srgbClr val="EAEAEA"/>
    <a:srgbClr val="F7F7F9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7" autoAdjust="0"/>
    <p:restoredTop sz="90559" autoAdjust="0"/>
  </p:normalViewPr>
  <p:slideViewPr>
    <p:cSldViewPr snapToGrid="0" showGuides="1">
      <p:cViewPr varScale="1">
        <p:scale>
          <a:sx n="89" d="100"/>
          <a:sy n="89" d="100"/>
        </p:scale>
        <p:origin x="240" y="56"/>
      </p:cViewPr>
      <p:guideLst>
        <p:guide pos="9777"/>
        <p:guide orient="horz" pos="2497"/>
        <p:guide orient="horz" pos="5196"/>
        <p:guide orient="horz" pos="1973"/>
        <p:guide orient="horz" pos="3956"/>
        <p:guide pos="7339"/>
        <p:guide pos="3794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28D13-26FC-4530-9D3A-9D0CA85A8C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9B631-81E8-4019-838E-748D95B683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9B631-81E8-4019-838E-748D95B68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9B631-81E8-4019-838E-748D95B683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6E9206-D2D6-4057-92D4-39C87A03E66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469"/>
            <a:ext cx="12192000" cy="6110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庞门正道标题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9" y="196500"/>
            <a:ext cx="1277869" cy="364850"/>
          </a:xfrm>
          <a:prstGeom prst="rect">
            <a:avLst/>
          </a:prstGeom>
        </p:spPr>
      </p:pic>
      <p:sp>
        <p:nvSpPr>
          <p:cNvPr id="10" name="椭圆 9"/>
          <p:cNvSpPr/>
          <p:nvPr userDrawn="1"/>
        </p:nvSpPr>
        <p:spPr>
          <a:xfrm>
            <a:off x="430089" y="306712"/>
            <a:ext cx="132563" cy="1325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4779EE-1E16-4CC5-A459-C716090F60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311C9F-D64E-4824-A709-CF61DE4E0BDD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4318BD-B3C6-4D4B-B871-C29490A2E55A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CAFC4-799C-4CDE-B92B-8C262F06CF3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 userDrawn="1"/>
        </p:nvSpPr>
        <p:spPr>
          <a:xfrm>
            <a:off x="1139634" y="1031257"/>
            <a:ext cx="9912735" cy="4289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5900057" y="6451897"/>
            <a:ext cx="391889" cy="2201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729073-8FFE-4F18-B513-07581FC6638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4673600" y="6396227"/>
            <a:ext cx="2844800" cy="365125"/>
          </a:xfrm>
        </p:spPr>
        <p:txBody>
          <a:bodyPr/>
          <a:lstStyle>
            <a:lvl1pPr algn="ctr">
              <a:defRPr>
                <a:latin typeface="ITC Avant Garde Std Bk" panose="020B0502020202020204" pitchFamily="34" charset="0"/>
              </a:defRPr>
            </a:lvl1pPr>
          </a:lstStyle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C7FCF6-76BD-4495-B08F-4C059D2BA31F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57577C-F53D-4BB9-9408-EB84DEB3CD80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D58058-BD14-4845-947D-4A9B79A00D0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ECB469-C949-4E3F-B0CB-0C15DA7B7F92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196EC2F-0988-4314-AD4B-24FF16D7B45E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1EE9E8-4134-49B0-9AA7-3089E652162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/>
        </p:nvSpPr>
        <p:spPr>
          <a:xfrm>
            <a:off x="0" y="3931680"/>
            <a:ext cx="12202789" cy="2926320"/>
          </a:xfrm>
          <a:custGeom>
            <a:avLst/>
            <a:gdLst>
              <a:gd name="connsiteX0" fmla="*/ 0 w 12192000"/>
              <a:gd name="connsiteY0" fmla="*/ 0 h 1435099"/>
              <a:gd name="connsiteX1" fmla="*/ 4669277 w 12192000"/>
              <a:gd name="connsiteY1" fmla="*/ 0 h 1435099"/>
              <a:gd name="connsiteX2" fmla="*/ 4712442 w 12192000"/>
              <a:gd name="connsiteY2" fmla="*/ 89607 h 1435099"/>
              <a:gd name="connsiteX3" fmla="*/ 6096000 w 12192000"/>
              <a:gd name="connsiteY3" fmla="*/ 913066 h 1435099"/>
              <a:gd name="connsiteX4" fmla="*/ 7479558 w 12192000"/>
              <a:gd name="connsiteY4" fmla="*/ 89607 h 1435099"/>
              <a:gd name="connsiteX5" fmla="*/ 7522724 w 12192000"/>
              <a:gd name="connsiteY5" fmla="*/ 0 h 1435099"/>
              <a:gd name="connsiteX6" fmla="*/ 12192000 w 12192000"/>
              <a:gd name="connsiteY6" fmla="*/ 0 h 1435099"/>
              <a:gd name="connsiteX7" fmla="*/ 12192000 w 12192000"/>
              <a:gd name="connsiteY7" fmla="*/ 1435099 h 1435099"/>
              <a:gd name="connsiteX8" fmla="*/ 0 w 12192000"/>
              <a:gd name="connsiteY8" fmla="*/ 1435099 h 1435099"/>
              <a:gd name="connsiteX0-1" fmla="*/ 0 w 12192000"/>
              <a:gd name="connsiteY0-2" fmla="*/ 0 h 4488494"/>
              <a:gd name="connsiteX1-3" fmla="*/ 4669277 w 12192000"/>
              <a:gd name="connsiteY1-4" fmla="*/ 0 h 4488494"/>
              <a:gd name="connsiteX2-5" fmla="*/ 4712442 w 12192000"/>
              <a:gd name="connsiteY2-6" fmla="*/ 89607 h 4488494"/>
              <a:gd name="connsiteX3-7" fmla="*/ 6096000 w 12192000"/>
              <a:gd name="connsiteY3-8" fmla="*/ 913066 h 4488494"/>
              <a:gd name="connsiteX4-9" fmla="*/ 7479558 w 12192000"/>
              <a:gd name="connsiteY4-10" fmla="*/ 89607 h 4488494"/>
              <a:gd name="connsiteX5-11" fmla="*/ 7522724 w 12192000"/>
              <a:gd name="connsiteY5-12" fmla="*/ 0 h 4488494"/>
              <a:gd name="connsiteX6-13" fmla="*/ 12192000 w 12192000"/>
              <a:gd name="connsiteY6-14" fmla="*/ 0 h 4488494"/>
              <a:gd name="connsiteX7-15" fmla="*/ 12192000 w 12192000"/>
              <a:gd name="connsiteY7-16" fmla="*/ 1435099 h 4488494"/>
              <a:gd name="connsiteX8-17" fmla="*/ 10789 w 12192000"/>
              <a:gd name="connsiteY8-18" fmla="*/ 4488494 h 4488494"/>
              <a:gd name="connsiteX9" fmla="*/ 0 w 12192000"/>
              <a:gd name="connsiteY9" fmla="*/ 0 h 4488494"/>
              <a:gd name="connsiteX0-19" fmla="*/ 0 w 12202789"/>
              <a:gd name="connsiteY0-20" fmla="*/ 0 h 4488494"/>
              <a:gd name="connsiteX1-21" fmla="*/ 4669277 w 12202789"/>
              <a:gd name="connsiteY1-22" fmla="*/ 0 h 4488494"/>
              <a:gd name="connsiteX2-23" fmla="*/ 4712442 w 12202789"/>
              <a:gd name="connsiteY2-24" fmla="*/ 89607 h 4488494"/>
              <a:gd name="connsiteX3-25" fmla="*/ 6096000 w 12202789"/>
              <a:gd name="connsiteY3-26" fmla="*/ 913066 h 4488494"/>
              <a:gd name="connsiteX4-27" fmla="*/ 7479558 w 12202789"/>
              <a:gd name="connsiteY4-28" fmla="*/ 89607 h 4488494"/>
              <a:gd name="connsiteX5-29" fmla="*/ 7522724 w 12202789"/>
              <a:gd name="connsiteY5-30" fmla="*/ 0 h 4488494"/>
              <a:gd name="connsiteX6-31" fmla="*/ 12192000 w 12202789"/>
              <a:gd name="connsiteY6-32" fmla="*/ 0 h 4488494"/>
              <a:gd name="connsiteX7-33" fmla="*/ 12202789 w 12202789"/>
              <a:gd name="connsiteY7-34" fmla="*/ 4466915 h 4488494"/>
              <a:gd name="connsiteX8-35" fmla="*/ 10789 w 12202789"/>
              <a:gd name="connsiteY8-36" fmla="*/ 4488494 h 4488494"/>
              <a:gd name="connsiteX9-37" fmla="*/ 0 w 12202789"/>
              <a:gd name="connsiteY9-38" fmla="*/ 0 h 4488494"/>
              <a:gd name="connsiteX0-39" fmla="*/ 0 w 12202789"/>
              <a:gd name="connsiteY0-40" fmla="*/ 0 h 4483285"/>
              <a:gd name="connsiteX1-41" fmla="*/ 4669277 w 12202789"/>
              <a:gd name="connsiteY1-42" fmla="*/ 0 h 4483285"/>
              <a:gd name="connsiteX2-43" fmla="*/ 4712442 w 12202789"/>
              <a:gd name="connsiteY2-44" fmla="*/ 89607 h 4483285"/>
              <a:gd name="connsiteX3-45" fmla="*/ 6096000 w 12202789"/>
              <a:gd name="connsiteY3-46" fmla="*/ 913066 h 4483285"/>
              <a:gd name="connsiteX4-47" fmla="*/ 7479558 w 12202789"/>
              <a:gd name="connsiteY4-48" fmla="*/ 89607 h 4483285"/>
              <a:gd name="connsiteX5-49" fmla="*/ 7522724 w 12202789"/>
              <a:gd name="connsiteY5-50" fmla="*/ 0 h 4483285"/>
              <a:gd name="connsiteX6-51" fmla="*/ 12192000 w 12202789"/>
              <a:gd name="connsiteY6-52" fmla="*/ 0 h 4483285"/>
              <a:gd name="connsiteX7-53" fmla="*/ 12202789 w 12202789"/>
              <a:gd name="connsiteY7-54" fmla="*/ 4466915 h 4483285"/>
              <a:gd name="connsiteX8-55" fmla="*/ 369 w 12202789"/>
              <a:gd name="connsiteY8-56" fmla="*/ 4483285 h 4483285"/>
              <a:gd name="connsiteX9-57" fmla="*/ 0 w 12202789"/>
              <a:gd name="connsiteY9-58" fmla="*/ 0 h 44832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12202789" h="4483285">
                <a:moveTo>
                  <a:pt x="0" y="0"/>
                </a:moveTo>
                <a:lnTo>
                  <a:pt x="4669277" y="0"/>
                </a:lnTo>
                <a:lnTo>
                  <a:pt x="4712442" y="89607"/>
                </a:lnTo>
                <a:cubicBezTo>
                  <a:pt x="4978892" y="580096"/>
                  <a:pt x="5498561" y="913066"/>
                  <a:pt x="6096000" y="913066"/>
                </a:cubicBezTo>
                <a:cubicBezTo>
                  <a:pt x="6693439" y="913066"/>
                  <a:pt x="7213109" y="580096"/>
                  <a:pt x="7479558" y="89607"/>
                </a:cubicBezTo>
                <a:lnTo>
                  <a:pt x="7522724" y="0"/>
                </a:lnTo>
                <a:lnTo>
                  <a:pt x="12192000" y="0"/>
                </a:lnTo>
                <a:cubicBezTo>
                  <a:pt x="12195596" y="1488972"/>
                  <a:pt x="12199193" y="2977943"/>
                  <a:pt x="12202789" y="4466915"/>
                </a:cubicBezTo>
                <a:lnTo>
                  <a:pt x="369" y="4483285"/>
                </a:lnTo>
                <a:cubicBezTo>
                  <a:pt x="369" y="4004919"/>
                  <a:pt x="0" y="478366"/>
                  <a:pt x="0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>
              <a:solidFill>
                <a:srgbClr val="0070C0"/>
              </a:solidFill>
              <a:latin typeface="Source Sans Pro Light" panose="020B0403030403020204" charset="0"/>
              <a:ea typeface="庞门正道标题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816344" y="1394978"/>
            <a:ext cx="3307459" cy="3307459"/>
          </a:xfrm>
          <a:prstGeom prst="ellipse">
            <a:avLst/>
          </a:prstGeom>
          <a:gradFill>
            <a:gsLst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5400000" scaled="0"/>
          </a:gradFill>
          <a:ln w="9525">
            <a:noFill/>
          </a:ln>
          <a:effectLst>
            <a:softEdge rad="228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2490">
              <a:solidFill>
                <a:srgbClr val="FFFFFF"/>
              </a:solidFill>
              <a:latin typeface="Calibri" panose="020F0502020204030204"/>
              <a:ea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43401" y="1049921"/>
            <a:ext cx="3361694" cy="3233807"/>
            <a:chOff x="1957447" y="1761875"/>
            <a:chExt cx="2657119" cy="2558915"/>
          </a:xfrm>
          <a:effectLst/>
        </p:grpSpPr>
        <p:sp>
          <p:nvSpPr>
            <p:cNvPr id="2" name="椭圆 1"/>
            <p:cNvSpPr/>
            <p:nvPr/>
          </p:nvSpPr>
          <p:spPr>
            <a:xfrm>
              <a:off x="1957447" y="1761875"/>
              <a:ext cx="2657119" cy="2558915"/>
            </a:xfrm>
            <a:prstGeom prst="ellipse">
              <a:avLst/>
            </a:prstGeom>
            <a:solidFill>
              <a:srgbClr val="0070C0"/>
            </a:solidFill>
            <a:ln w="3175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27000" dist="63500" dir="13500000">
                <a:schemeClr val="accent3">
                  <a:lumMod val="50000"/>
                  <a:alpha val="8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3600">
                <a:solidFill>
                  <a:srgbClr val="FFFFFF"/>
                </a:solidFill>
                <a:latin typeface="Calibri" panose="020F0502020204030204"/>
                <a:ea typeface="宋体" pitchFamily="2" charset="-122"/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2100054" y="1901431"/>
              <a:ext cx="2372787" cy="227763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0800">
              <a:noFill/>
            </a:ln>
            <a:effectLst>
              <a:outerShdw blurRad="152400" dist="76200" dir="2700000" algn="tl" rotWithShape="0">
                <a:schemeClr val="accent3">
                  <a:lumMod val="50000"/>
                  <a:alpha val="64000"/>
                </a:scheme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95250" h="317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3600">
                <a:solidFill>
                  <a:srgbClr val="FFFFFF"/>
                </a:solidFill>
                <a:latin typeface="Calibri" panose="020F0502020204030204"/>
                <a:ea typeface="宋体" pitchFamily="2" charset="-122"/>
              </a:endParaRPr>
            </a:p>
          </p:txBody>
        </p:sp>
      </p:grpSp>
      <p:sp>
        <p:nvSpPr>
          <p:cNvPr id="13" name="TextBox 42"/>
          <p:cNvSpPr txBox="1"/>
          <p:nvPr/>
        </p:nvSpPr>
        <p:spPr>
          <a:xfrm>
            <a:off x="1154724" y="5884891"/>
            <a:ext cx="9993385" cy="5847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defRPr/>
            </a:pPr>
            <a:r>
              <a:rPr lang="zh-CN" altLang="en-US" sz="3200" b="1" dirty="0" smtClean="0">
                <a:solidFill>
                  <a:schemeClr val="bg1"/>
                </a:solidFill>
                <a:latin typeface="+mn-ea"/>
              </a:rPr>
              <a:t>授课单位：工程技术中心 </a:t>
            </a:r>
            <a:endParaRPr lang="zh-CN" altLang="en-US" sz="3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4" name="文本框 14"/>
          <p:cNvSpPr txBox="1"/>
          <p:nvPr/>
        </p:nvSpPr>
        <p:spPr>
          <a:xfrm>
            <a:off x="4564243" y="1477976"/>
            <a:ext cx="2920009" cy="221445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6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 程</a:t>
            </a:r>
            <a:endParaRPr lang="en-US" altLang="zh-CN" sz="60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6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 论</a:t>
            </a:r>
            <a:endParaRPr lang="en-US" altLang="zh-CN" sz="6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/>
      <p:bldP spid="4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/>
        </p:nvSpPr>
        <p:spPr>
          <a:xfrm>
            <a:off x="1423" y="3405606"/>
            <a:ext cx="12202789" cy="3489955"/>
          </a:xfrm>
          <a:custGeom>
            <a:avLst/>
            <a:gdLst>
              <a:gd name="connsiteX0" fmla="*/ 0 w 12192000"/>
              <a:gd name="connsiteY0" fmla="*/ 0 h 1435099"/>
              <a:gd name="connsiteX1" fmla="*/ 4669277 w 12192000"/>
              <a:gd name="connsiteY1" fmla="*/ 0 h 1435099"/>
              <a:gd name="connsiteX2" fmla="*/ 4712442 w 12192000"/>
              <a:gd name="connsiteY2" fmla="*/ 89607 h 1435099"/>
              <a:gd name="connsiteX3" fmla="*/ 6096000 w 12192000"/>
              <a:gd name="connsiteY3" fmla="*/ 913066 h 1435099"/>
              <a:gd name="connsiteX4" fmla="*/ 7479558 w 12192000"/>
              <a:gd name="connsiteY4" fmla="*/ 89607 h 1435099"/>
              <a:gd name="connsiteX5" fmla="*/ 7522724 w 12192000"/>
              <a:gd name="connsiteY5" fmla="*/ 0 h 1435099"/>
              <a:gd name="connsiteX6" fmla="*/ 12192000 w 12192000"/>
              <a:gd name="connsiteY6" fmla="*/ 0 h 1435099"/>
              <a:gd name="connsiteX7" fmla="*/ 12192000 w 12192000"/>
              <a:gd name="connsiteY7" fmla="*/ 1435099 h 1435099"/>
              <a:gd name="connsiteX8" fmla="*/ 0 w 12192000"/>
              <a:gd name="connsiteY8" fmla="*/ 1435099 h 1435099"/>
              <a:gd name="connsiteX0-1" fmla="*/ 0 w 12192000"/>
              <a:gd name="connsiteY0-2" fmla="*/ 0 h 4488494"/>
              <a:gd name="connsiteX1-3" fmla="*/ 4669277 w 12192000"/>
              <a:gd name="connsiteY1-4" fmla="*/ 0 h 4488494"/>
              <a:gd name="connsiteX2-5" fmla="*/ 4712442 w 12192000"/>
              <a:gd name="connsiteY2-6" fmla="*/ 89607 h 4488494"/>
              <a:gd name="connsiteX3-7" fmla="*/ 6096000 w 12192000"/>
              <a:gd name="connsiteY3-8" fmla="*/ 913066 h 4488494"/>
              <a:gd name="connsiteX4-9" fmla="*/ 7479558 w 12192000"/>
              <a:gd name="connsiteY4-10" fmla="*/ 89607 h 4488494"/>
              <a:gd name="connsiteX5-11" fmla="*/ 7522724 w 12192000"/>
              <a:gd name="connsiteY5-12" fmla="*/ 0 h 4488494"/>
              <a:gd name="connsiteX6-13" fmla="*/ 12192000 w 12192000"/>
              <a:gd name="connsiteY6-14" fmla="*/ 0 h 4488494"/>
              <a:gd name="connsiteX7-15" fmla="*/ 12192000 w 12192000"/>
              <a:gd name="connsiteY7-16" fmla="*/ 1435099 h 4488494"/>
              <a:gd name="connsiteX8-17" fmla="*/ 10789 w 12192000"/>
              <a:gd name="connsiteY8-18" fmla="*/ 4488494 h 4488494"/>
              <a:gd name="connsiteX9" fmla="*/ 0 w 12192000"/>
              <a:gd name="connsiteY9" fmla="*/ 0 h 4488494"/>
              <a:gd name="connsiteX0-19" fmla="*/ 0 w 12202789"/>
              <a:gd name="connsiteY0-20" fmla="*/ 0 h 4488494"/>
              <a:gd name="connsiteX1-21" fmla="*/ 4669277 w 12202789"/>
              <a:gd name="connsiteY1-22" fmla="*/ 0 h 4488494"/>
              <a:gd name="connsiteX2-23" fmla="*/ 4712442 w 12202789"/>
              <a:gd name="connsiteY2-24" fmla="*/ 89607 h 4488494"/>
              <a:gd name="connsiteX3-25" fmla="*/ 6096000 w 12202789"/>
              <a:gd name="connsiteY3-26" fmla="*/ 913066 h 4488494"/>
              <a:gd name="connsiteX4-27" fmla="*/ 7479558 w 12202789"/>
              <a:gd name="connsiteY4-28" fmla="*/ 89607 h 4488494"/>
              <a:gd name="connsiteX5-29" fmla="*/ 7522724 w 12202789"/>
              <a:gd name="connsiteY5-30" fmla="*/ 0 h 4488494"/>
              <a:gd name="connsiteX6-31" fmla="*/ 12192000 w 12202789"/>
              <a:gd name="connsiteY6-32" fmla="*/ 0 h 4488494"/>
              <a:gd name="connsiteX7-33" fmla="*/ 12202789 w 12202789"/>
              <a:gd name="connsiteY7-34" fmla="*/ 4466915 h 4488494"/>
              <a:gd name="connsiteX8-35" fmla="*/ 10789 w 12202789"/>
              <a:gd name="connsiteY8-36" fmla="*/ 4488494 h 4488494"/>
              <a:gd name="connsiteX9-37" fmla="*/ 0 w 12202789"/>
              <a:gd name="connsiteY9-38" fmla="*/ 0 h 4488494"/>
              <a:gd name="connsiteX0-39" fmla="*/ 0 w 12202789"/>
              <a:gd name="connsiteY0-40" fmla="*/ 0 h 4483285"/>
              <a:gd name="connsiteX1-41" fmla="*/ 4669277 w 12202789"/>
              <a:gd name="connsiteY1-42" fmla="*/ 0 h 4483285"/>
              <a:gd name="connsiteX2-43" fmla="*/ 4712442 w 12202789"/>
              <a:gd name="connsiteY2-44" fmla="*/ 89607 h 4483285"/>
              <a:gd name="connsiteX3-45" fmla="*/ 6096000 w 12202789"/>
              <a:gd name="connsiteY3-46" fmla="*/ 913066 h 4483285"/>
              <a:gd name="connsiteX4-47" fmla="*/ 7479558 w 12202789"/>
              <a:gd name="connsiteY4-48" fmla="*/ 89607 h 4483285"/>
              <a:gd name="connsiteX5-49" fmla="*/ 7522724 w 12202789"/>
              <a:gd name="connsiteY5-50" fmla="*/ 0 h 4483285"/>
              <a:gd name="connsiteX6-51" fmla="*/ 12192000 w 12202789"/>
              <a:gd name="connsiteY6-52" fmla="*/ 0 h 4483285"/>
              <a:gd name="connsiteX7-53" fmla="*/ 12202789 w 12202789"/>
              <a:gd name="connsiteY7-54" fmla="*/ 4466915 h 4483285"/>
              <a:gd name="connsiteX8-55" fmla="*/ 369 w 12202789"/>
              <a:gd name="connsiteY8-56" fmla="*/ 4483285 h 4483285"/>
              <a:gd name="connsiteX9-57" fmla="*/ 0 w 12202789"/>
              <a:gd name="connsiteY9-58" fmla="*/ 0 h 44832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12202789" h="4483285">
                <a:moveTo>
                  <a:pt x="0" y="0"/>
                </a:moveTo>
                <a:lnTo>
                  <a:pt x="4669277" y="0"/>
                </a:lnTo>
                <a:lnTo>
                  <a:pt x="4712442" y="89607"/>
                </a:lnTo>
                <a:cubicBezTo>
                  <a:pt x="4978892" y="580096"/>
                  <a:pt x="5498561" y="913066"/>
                  <a:pt x="6096000" y="913066"/>
                </a:cubicBezTo>
                <a:cubicBezTo>
                  <a:pt x="6693439" y="913066"/>
                  <a:pt x="7213109" y="580096"/>
                  <a:pt x="7479558" y="89607"/>
                </a:cubicBezTo>
                <a:lnTo>
                  <a:pt x="7522724" y="0"/>
                </a:lnTo>
                <a:lnTo>
                  <a:pt x="12192000" y="0"/>
                </a:lnTo>
                <a:cubicBezTo>
                  <a:pt x="12195596" y="1488972"/>
                  <a:pt x="12199193" y="2977943"/>
                  <a:pt x="12202789" y="4466915"/>
                </a:cubicBezTo>
                <a:lnTo>
                  <a:pt x="369" y="4483285"/>
                </a:lnTo>
                <a:cubicBezTo>
                  <a:pt x="369" y="4004919"/>
                  <a:pt x="0" y="478366"/>
                  <a:pt x="0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endParaRPr lang="zh-CN" altLang="en-US" sz="2400">
              <a:solidFill>
                <a:srgbClr val="0070C0"/>
              </a:solidFill>
              <a:latin typeface="Source Sans Pro Light" panose="020B0403030403020204" charset="0"/>
              <a:ea typeface="庞门正道标题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442271" y="864602"/>
            <a:ext cx="3307459" cy="3307459"/>
          </a:xfrm>
          <a:prstGeom prst="ellipse">
            <a:avLst/>
          </a:prstGeom>
          <a:gradFill>
            <a:gsLst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5400000" scaled="0"/>
          </a:gradFill>
          <a:ln w="9525">
            <a:noFill/>
          </a:ln>
          <a:effectLst>
            <a:softEdge rad="228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2490">
              <a:solidFill>
                <a:srgbClr val="FFFFFF"/>
              </a:solidFill>
              <a:latin typeface="Calibri" panose="020F0502020204030204"/>
              <a:ea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60974" y="1283305"/>
            <a:ext cx="2470047" cy="2470047"/>
            <a:chOff x="2193191" y="1899415"/>
            <a:chExt cx="2421376" cy="2421376"/>
          </a:xfrm>
          <a:effectLst/>
        </p:grpSpPr>
        <p:sp>
          <p:nvSpPr>
            <p:cNvPr id="2" name="椭圆 1"/>
            <p:cNvSpPr/>
            <p:nvPr/>
          </p:nvSpPr>
          <p:spPr>
            <a:xfrm>
              <a:off x="2193191" y="1899415"/>
              <a:ext cx="2421376" cy="2421376"/>
            </a:xfrm>
            <a:prstGeom prst="ellipse">
              <a:avLst/>
            </a:prstGeom>
            <a:solidFill>
              <a:srgbClr val="0070C0"/>
            </a:solidFill>
            <a:ln w="3175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27000" dist="63500" dir="13500000">
                <a:schemeClr val="accent3">
                  <a:lumMod val="50000"/>
                  <a:alpha val="8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2490">
                <a:solidFill>
                  <a:srgbClr val="FFFFFF"/>
                </a:solidFill>
                <a:latin typeface="Calibri" panose="020F0502020204030204"/>
                <a:ea typeface="宋体" pitchFamily="2" charset="-122"/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2334917" y="2041141"/>
              <a:ext cx="2137923" cy="213792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0800">
              <a:noFill/>
            </a:ln>
            <a:effectLst>
              <a:outerShdw blurRad="152400" dist="76200" dir="2700000" algn="tl" rotWithShape="0">
                <a:schemeClr val="accent3">
                  <a:lumMod val="50000"/>
                  <a:alpha val="64000"/>
                </a:scheme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95250" h="317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2490">
                <a:solidFill>
                  <a:srgbClr val="FFFFFF"/>
                </a:solidFill>
                <a:latin typeface="Calibri" panose="020F0502020204030204"/>
                <a:ea typeface="宋体" pitchFamily="2" charset="-122"/>
              </a:endParaRPr>
            </a:p>
          </p:txBody>
        </p:sp>
      </p:grpSp>
      <p:sp>
        <p:nvSpPr>
          <p:cNvPr id="13" name="TextBox 42"/>
          <p:cNvSpPr txBox="1"/>
          <p:nvPr/>
        </p:nvSpPr>
        <p:spPr>
          <a:xfrm>
            <a:off x="1099306" y="4551880"/>
            <a:ext cx="9993385" cy="82994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defRPr/>
            </a:pPr>
            <a:r>
              <a:rPr lang="zh-CN" altLang="en-US" sz="4800" b="1" dirty="0" smtClean="0">
                <a:solidFill>
                  <a:schemeClr val="bg1"/>
                </a:solidFill>
                <a:latin typeface="+mn-ea"/>
              </a:rPr>
              <a:t>第五单元  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</a:rPr>
              <a:t>样机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</a:rPr>
              <a:t>开发</a:t>
            </a:r>
            <a:endParaRPr lang="zh-CN" altLang="en-US" sz="4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644560" y="5570788"/>
            <a:ext cx="8902878" cy="7616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zh-CN" altLang="en-US" sz="249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44" name="文本框 14"/>
          <p:cNvSpPr txBox="1"/>
          <p:nvPr/>
        </p:nvSpPr>
        <p:spPr>
          <a:xfrm>
            <a:off x="4911937" y="2016287"/>
            <a:ext cx="2419084" cy="70076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工程概论</a:t>
            </a:r>
            <a:endParaRPr lang="en-US" altLang="zh-CN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5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/>
      <p:bldP spid="20" grpId="0" bldLvl="0" animBg="1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89648"/>
            <a:ext cx="12192000" cy="8572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9"/>
          <p:cNvSpPr txBox="1"/>
          <p:nvPr/>
        </p:nvSpPr>
        <p:spPr>
          <a:xfrm>
            <a:off x="101600" y="306705"/>
            <a:ext cx="10738485" cy="492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>
              <a:buSzPct val="100000"/>
            </a:pP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 项目名称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：材智通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”——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智慧材料库数字化管理系统</a:t>
            </a:r>
            <a:endParaRPr lang="zh-CN" altLang="en-US" sz="3200" b="1" dirty="0" smtClean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9315" y="1217930"/>
            <a:ext cx="1032192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FF0000"/>
                </a:solidFill>
                <a:latin typeface="-apple-system"/>
                <a:ea typeface="-apple-system"/>
              </a:rPr>
              <a:t>把实验室</a:t>
            </a:r>
            <a:r>
              <a:rPr lang="en-US" altLang="zh-CN" sz="1600" b="0" i="0">
                <a:solidFill>
                  <a:srgbClr val="FF0000"/>
                </a:solidFill>
                <a:latin typeface="-apple-system"/>
                <a:ea typeface="-apple-system"/>
              </a:rPr>
              <a:t>/</a:t>
            </a:r>
            <a:r>
              <a:rPr lang="zh-CN" altLang="en-US" sz="1600" b="0" i="0">
                <a:solidFill>
                  <a:srgbClr val="FF0000"/>
                </a:solidFill>
                <a:latin typeface="-apple-system"/>
                <a:ea typeface="-apple-system"/>
              </a:rPr>
              <a:t>工场的物资仓库变成一键可查、全程可追溯、报表自动生成的云端材料银行。</a:t>
            </a:r>
            <a:endParaRPr lang="zh-CN" altLang="en-US" sz="1600" b="0" i="0">
              <a:solidFill>
                <a:srgbClr val="FF0000"/>
              </a:solidFill>
              <a:latin typeface="-apple-system"/>
              <a:ea typeface="-apple-system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2149475"/>
            <a:ext cx="10631805" cy="3425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89648"/>
            <a:ext cx="12192000" cy="8572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9"/>
          <p:cNvSpPr txBox="1"/>
          <p:nvPr/>
        </p:nvSpPr>
        <p:spPr>
          <a:xfrm>
            <a:off x="101600" y="306705"/>
            <a:ext cx="10738485" cy="492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>
              <a:buSzPct val="100000"/>
            </a:pP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 项目名称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：智训批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——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实训报告智能批改与管理系统项目</a:t>
            </a:r>
            <a:endParaRPr lang="zh-CN" altLang="en-US" sz="3200" b="1" dirty="0" smtClean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7512" y="1666076"/>
            <a:ext cx="10152598" cy="36457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60000"/>
              </a:lnSpc>
            </a:pPr>
            <a:r>
              <a:rPr lang="zh-CN" sz="2800" b="1">
                <a:ea typeface="黑体"/>
                <a:cs typeface="Times New Roman" panose="02020603050405020304"/>
              </a:rPr>
              <a:t>一、项目背景</a:t>
            </a:r>
            <a:endParaRPr lang="zh-CN" sz="2800" b="1">
              <a:ea typeface="黑体"/>
              <a:cs typeface="Times New Roman" panose="02020603050405020304"/>
            </a:endParaRPr>
          </a:p>
          <a:p>
            <a:pPr algn="l">
              <a:lnSpc>
                <a:spcPct val="160000"/>
              </a:lnSpc>
            </a:pPr>
            <a:r>
              <a:rPr lang="en-US" sz="1200">
                <a:latin typeface="Calibri" charset="0"/>
                <a:ea typeface="宋体" charset="0"/>
              </a:rPr>
              <a:t>1</a:t>
            </a:r>
            <a:r>
              <a:rPr lang="en-US" sz="2400">
                <a:latin typeface="Calibri" charset="0"/>
                <a:ea typeface="宋体" charset="0"/>
              </a:rPr>
              <a:t>.</a:t>
            </a:r>
            <a:r>
              <a:rPr lang="zh-CN" sz="2400">
                <a:ea typeface="宋体"/>
                <a:cs typeface="Times New Roman" panose="02020603050405020304"/>
              </a:rPr>
              <a:t>传统纸质</a:t>
            </a:r>
            <a:r>
              <a:rPr lang="en-US" sz="2400">
                <a:latin typeface="Calibri" charset="0"/>
                <a:ea typeface="宋体" charset="0"/>
                <a:cs typeface="Times New Roman" panose="02020603050405020304" charset="0"/>
              </a:rPr>
              <a:t>/</a:t>
            </a:r>
            <a:r>
              <a:rPr lang="zh-CN" sz="2400">
                <a:ea typeface="宋体"/>
                <a:cs typeface="Times New Roman" panose="02020603050405020304"/>
              </a:rPr>
              <a:t>散放</a:t>
            </a:r>
            <a:r>
              <a:rPr lang="en-US" sz="2400">
                <a:latin typeface="Calibri" charset="0"/>
                <a:ea typeface="宋体" charset="0"/>
                <a:cs typeface="Times New Roman" panose="02020603050405020304" charset="0"/>
              </a:rPr>
              <a:t>PDF</a:t>
            </a:r>
            <a:r>
              <a:rPr lang="zh-CN" sz="2400">
                <a:ea typeface="宋体"/>
                <a:cs typeface="Times New Roman" panose="02020603050405020304"/>
              </a:rPr>
              <a:t>报告收集难：教师需反复提醒、人工核对名单，平均耗时</a:t>
            </a:r>
            <a:r>
              <a:rPr lang="en-US" sz="2400">
                <a:latin typeface="Calibri" charset="0"/>
                <a:ea typeface="宋体" charset="0"/>
                <a:cs typeface="Times New Roman" panose="02020603050405020304" charset="0"/>
              </a:rPr>
              <a:t>2</a:t>
            </a:r>
            <a:r>
              <a:rPr lang="zh-CN" sz="2400">
                <a:ea typeface="宋体"/>
                <a:cs typeface="Times New Roman" panose="02020603050405020304"/>
              </a:rPr>
              <a:t>课时</a:t>
            </a:r>
            <a:r>
              <a:rPr lang="en-US" sz="2400">
                <a:latin typeface="Calibri" charset="0"/>
                <a:ea typeface="宋体" charset="0"/>
                <a:cs typeface="Times New Roman" panose="02020603050405020304" charset="0"/>
              </a:rPr>
              <a:t>/</a:t>
            </a:r>
            <a:r>
              <a:rPr lang="zh-CN" sz="2400">
                <a:ea typeface="宋体"/>
                <a:cs typeface="Times New Roman" panose="02020603050405020304"/>
              </a:rPr>
              <a:t>班。</a:t>
            </a:r>
            <a:endParaRPr lang="zh-CN" sz="2400">
              <a:ea typeface="宋体"/>
              <a:cs typeface="Times New Roman" panose="02020603050405020304"/>
            </a:endParaRPr>
          </a:p>
          <a:p>
            <a:pPr algn="l">
              <a:lnSpc>
                <a:spcPct val="160000"/>
              </a:lnSpc>
            </a:pPr>
            <a:r>
              <a:rPr lang="en-US" sz="1200">
                <a:latin typeface="Calibri" charset="0"/>
                <a:ea typeface="宋体" charset="0"/>
              </a:rPr>
              <a:t>2</a:t>
            </a:r>
            <a:r>
              <a:rPr lang="en-US" sz="2400">
                <a:latin typeface="Calibri" charset="0"/>
                <a:ea typeface="宋体" charset="0"/>
              </a:rPr>
              <a:t>.</a:t>
            </a:r>
            <a:r>
              <a:rPr lang="zh-CN" sz="2400">
                <a:ea typeface="宋体"/>
                <a:cs typeface="Times New Roman" panose="02020603050405020304"/>
              </a:rPr>
              <a:t>批改量大：一份报告平均</a:t>
            </a:r>
            <a:r>
              <a:rPr lang="en-US" sz="2400">
                <a:latin typeface="Calibri" charset="0"/>
                <a:ea typeface="宋体" charset="0"/>
                <a:cs typeface="Times New Roman" panose="02020603050405020304" charset="0"/>
              </a:rPr>
              <a:t>5-8</a:t>
            </a:r>
            <a:r>
              <a:rPr lang="zh-CN" sz="2400">
                <a:ea typeface="宋体"/>
                <a:cs typeface="Times New Roman" panose="02020603050405020304"/>
              </a:rPr>
              <a:t>分钟，</a:t>
            </a:r>
            <a:r>
              <a:rPr lang="en-US" sz="2400">
                <a:latin typeface="Calibri" charset="0"/>
                <a:ea typeface="宋体" charset="0"/>
                <a:cs typeface="Times New Roman" panose="02020603050405020304" charset="0"/>
              </a:rPr>
              <a:t>50</a:t>
            </a:r>
            <a:r>
              <a:rPr lang="zh-CN" sz="2400">
                <a:ea typeface="宋体"/>
                <a:cs typeface="Times New Roman" panose="02020603050405020304"/>
              </a:rPr>
              <a:t>人班级</a:t>
            </a:r>
            <a:r>
              <a:rPr lang="en-US" sz="2400">
                <a:latin typeface="Calibri" charset="0"/>
                <a:ea typeface="宋体" charset="0"/>
                <a:cs typeface="Times New Roman" panose="02020603050405020304" charset="0"/>
              </a:rPr>
              <a:t>≈6</a:t>
            </a:r>
            <a:r>
              <a:rPr lang="zh-CN" sz="2400">
                <a:ea typeface="宋体"/>
                <a:cs typeface="Times New Roman" panose="02020603050405020304"/>
              </a:rPr>
              <a:t>小时，且易漏批、错批。</a:t>
            </a:r>
            <a:endParaRPr lang="zh-CN" sz="2400">
              <a:ea typeface="宋体"/>
              <a:cs typeface="Times New Roman" panose="02020603050405020304"/>
            </a:endParaRPr>
          </a:p>
          <a:p>
            <a:pPr algn="l">
              <a:lnSpc>
                <a:spcPct val="160000"/>
              </a:lnSpc>
            </a:pPr>
            <a:r>
              <a:rPr lang="en-US" sz="2400">
                <a:latin typeface="Calibri" charset="0"/>
                <a:ea typeface="宋体" charset="0"/>
              </a:rPr>
              <a:t>3.</a:t>
            </a:r>
            <a:r>
              <a:rPr lang="zh-CN" sz="2400">
                <a:ea typeface="宋体"/>
                <a:cs typeface="Times New Roman" panose="02020603050405020304"/>
              </a:rPr>
              <a:t>成绩统计滞后：手动录入</a:t>
            </a:r>
            <a:r>
              <a:rPr lang="en-US" sz="2400">
                <a:latin typeface="Calibri" charset="0"/>
                <a:ea typeface="宋体" charset="0"/>
                <a:cs typeface="Times New Roman" panose="02020603050405020304" charset="0"/>
              </a:rPr>
              <a:t>Excel</a:t>
            </a:r>
            <a:r>
              <a:rPr lang="zh-CN" sz="2400">
                <a:ea typeface="宋体"/>
                <a:cs typeface="Times New Roman" panose="02020603050405020304"/>
              </a:rPr>
              <a:t>，再算均值、方差、排名，易出错。</a:t>
            </a:r>
            <a:endParaRPr lang="zh-CN" sz="2400">
              <a:ea typeface="宋体"/>
              <a:cs typeface="Times New Roman" panose="02020603050405020304"/>
            </a:endParaRPr>
          </a:p>
          <a:p>
            <a:pPr algn="l">
              <a:lnSpc>
                <a:spcPct val="160000"/>
              </a:lnSpc>
            </a:pPr>
            <a:r>
              <a:rPr lang="zh-CN" sz="2400">
                <a:ea typeface="宋体"/>
                <a:cs typeface="Times New Roman" panose="02020603050405020304"/>
              </a:rPr>
              <a:t>教学改进缺数据：无法快速定位共性失分点，过程性评价流于形式。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89648"/>
            <a:ext cx="12192000" cy="8572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9"/>
          <p:cNvSpPr txBox="1"/>
          <p:nvPr/>
        </p:nvSpPr>
        <p:spPr>
          <a:xfrm>
            <a:off x="101600" y="306705"/>
            <a:ext cx="10738485" cy="492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>
              <a:buSzPct val="100000"/>
            </a:pP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 项目名称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：慧康云医院线上管理系统</a:t>
            </a:r>
            <a:endParaRPr lang="zh-CN" altLang="en-US" sz="3200" b="1" dirty="0" smtClean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1180" y="1852295"/>
            <a:ext cx="10054590" cy="3152775"/>
          </a:xfrm>
          <a:prstGeom prst="rect">
            <a:avLst/>
          </a:prstGeom>
        </p:spPr>
        <p:txBody>
          <a:bodyPr wrap="square">
            <a:noAutofit/>
          </a:bodyPr>
          <a:p>
            <a:pPr marL="914400" indent="-228600" algn="just" defTabSz="2667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AutoNum type="arabicPeriod"/>
            </a:pPr>
            <a:r>
              <a:rPr lang="zh-CN" altLang="en-US" sz="2400">
                <a:latin typeface="宋体" pitchFamily="2" charset="-122"/>
                <a:ea typeface="宋体" pitchFamily="2" charset="-122"/>
              </a:rPr>
              <a:t>现场挂号排长队，患者平均等候时间</a:t>
            </a:r>
            <a:r>
              <a:rPr lang="en-US" altLang="zh-CN" sz="2400">
                <a:latin typeface="Calibri" panose="020F0502020204030204"/>
                <a:ea typeface="宋体" pitchFamily="2" charset="-122"/>
              </a:rPr>
              <a:t>&gt;30</a:t>
            </a:r>
            <a:r>
              <a:rPr lang="zh-CN" altLang="en-US" sz="2400">
                <a:latin typeface="宋体" pitchFamily="2" charset="-122"/>
                <a:ea typeface="宋体" pitchFamily="2" charset="-122"/>
              </a:rPr>
              <a:t>分钟，满意度下降。</a:t>
            </a:r>
            <a:endParaRPr lang="zh-CN" altLang="en-US" sz="2400">
              <a:latin typeface="宋体" pitchFamily="2" charset="-122"/>
              <a:ea typeface="宋体" pitchFamily="2" charset="-122"/>
            </a:endParaRPr>
          </a:p>
          <a:p>
            <a:pPr marL="914400" indent="-228600" algn="just" defTabSz="2667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AutoNum type="arabicPeriod"/>
            </a:pPr>
            <a:r>
              <a:rPr lang="zh-CN" altLang="en-US" sz="2400">
                <a:latin typeface="宋体" pitchFamily="2" charset="-122"/>
                <a:ea typeface="宋体" pitchFamily="2" charset="-122"/>
              </a:rPr>
              <a:t>医生手写开单、纸质处方易出错，退费率</a:t>
            </a:r>
            <a:r>
              <a:rPr lang="en-US" altLang="zh-CN" sz="2400">
                <a:latin typeface="Calibri" panose="020F0502020204030204"/>
                <a:ea typeface="宋体" pitchFamily="2" charset="-122"/>
              </a:rPr>
              <a:t>&gt;2%</a:t>
            </a:r>
            <a:r>
              <a:rPr lang="zh-CN" altLang="en-US" sz="2400">
                <a:latin typeface="宋体" pitchFamily="2" charset="-122"/>
                <a:ea typeface="宋体" pitchFamily="2" charset="-122"/>
              </a:rPr>
              <a:t>，且追溯困难。</a:t>
            </a:r>
            <a:endParaRPr lang="zh-CN" altLang="en-US" sz="2400">
              <a:latin typeface="宋体" pitchFamily="2" charset="-122"/>
              <a:ea typeface="宋体" pitchFamily="2" charset="-122"/>
            </a:endParaRPr>
          </a:p>
          <a:p>
            <a:pPr marL="914400" indent="-228600" algn="just" defTabSz="2667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AutoNum type="arabicPeriod"/>
            </a:pPr>
            <a:r>
              <a:rPr lang="zh-CN" altLang="en-US" sz="2400">
                <a:latin typeface="宋体" pitchFamily="2" charset="-122"/>
                <a:ea typeface="宋体" pitchFamily="2" charset="-122"/>
              </a:rPr>
              <a:t>病历分散在</a:t>
            </a:r>
            <a:r>
              <a:rPr lang="en-US" altLang="zh-CN" sz="2400">
                <a:latin typeface="Calibri" panose="020F0502020204030204"/>
                <a:ea typeface="宋体" pitchFamily="2" charset="-122"/>
              </a:rPr>
              <a:t>Word/</a:t>
            </a:r>
            <a:r>
              <a:rPr lang="zh-CN" altLang="en-US" sz="2400">
                <a:latin typeface="宋体" pitchFamily="2" charset="-122"/>
                <a:ea typeface="宋体" pitchFamily="2" charset="-122"/>
              </a:rPr>
              <a:t>纸质，跨科室调阅需</a:t>
            </a:r>
            <a:r>
              <a:rPr lang="en-US" altLang="zh-CN" sz="2400">
                <a:latin typeface="Calibri" panose="020F0502020204030204"/>
                <a:ea typeface="宋体" pitchFamily="2" charset="-122"/>
              </a:rPr>
              <a:t>2-3</a:t>
            </a:r>
            <a:r>
              <a:rPr lang="zh-CN" altLang="en-US" sz="2400">
                <a:latin typeface="宋体" pitchFamily="2" charset="-122"/>
                <a:ea typeface="宋体" pitchFamily="2" charset="-122"/>
              </a:rPr>
              <a:t>天，影响会诊效率。</a:t>
            </a:r>
            <a:endParaRPr lang="zh-CN" altLang="en-US" sz="2400">
              <a:latin typeface="宋体" pitchFamily="2" charset="-122"/>
              <a:ea typeface="宋体" pitchFamily="2" charset="-122"/>
            </a:endParaRPr>
          </a:p>
          <a:p>
            <a:pPr marL="914400" indent="-228600" algn="just" defTabSz="2667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AutoNum type="arabicPeriod"/>
            </a:pPr>
            <a:r>
              <a:rPr lang="zh-CN" altLang="en-US" sz="2400">
                <a:latin typeface="宋体" pitchFamily="2" charset="-122"/>
                <a:ea typeface="宋体" pitchFamily="2" charset="-122"/>
              </a:rPr>
              <a:t>医保结算窗口人工审核，平均耗时</a:t>
            </a:r>
            <a:r>
              <a:rPr lang="en-US" altLang="zh-CN" sz="2400">
                <a:latin typeface="Calibri" panose="020F0502020204030204"/>
                <a:ea typeface="宋体" pitchFamily="2" charset="-122"/>
              </a:rPr>
              <a:t>8</a:t>
            </a:r>
            <a:r>
              <a:rPr lang="zh-CN" altLang="en-US" sz="2400">
                <a:latin typeface="宋体" pitchFamily="2" charset="-122"/>
                <a:ea typeface="宋体" pitchFamily="2" charset="-122"/>
              </a:rPr>
              <a:t>分钟</a:t>
            </a:r>
            <a:r>
              <a:rPr lang="en-US" altLang="zh-CN" sz="2400">
                <a:latin typeface="Calibri" panose="020F0502020204030204"/>
                <a:ea typeface="宋体" pitchFamily="2" charset="-122"/>
              </a:rPr>
              <a:t>/</a:t>
            </a:r>
            <a:r>
              <a:rPr lang="zh-CN" altLang="en-US" sz="2400">
                <a:latin typeface="宋体" pitchFamily="2" charset="-122"/>
                <a:ea typeface="宋体" pitchFamily="2" charset="-122"/>
              </a:rPr>
              <a:t>人次，高峰排队严重。</a:t>
            </a:r>
            <a:endParaRPr lang="zh-CN" altLang="en-US" sz="2400">
              <a:latin typeface="宋体" pitchFamily="2" charset="-122"/>
              <a:ea typeface="宋体" pitchFamily="2" charset="-122"/>
            </a:endParaRPr>
          </a:p>
          <a:p>
            <a:pPr marL="914400" indent="-228600" algn="just" defTabSz="266700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AutoNum type="arabicPeriod"/>
            </a:pPr>
            <a:r>
              <a:rPr lang="zh-CN" altLang="en-US" sz="2400">
                <a:latin typeface="宋体" pitchFamily="2" charset="-122"/>
                <a:ea typeface="宋体" pitchFamily="2" charset="-122"/>
              </a:rPr>
              <a:t>护士对用药核对、治疗执行缺乏电子闭环，存在安全风险。</a:t>
            </a:r>
            <a:endParaRPr lang="zh-CN" altLang="en-US" sz="240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28115" y="1253490"/>
            <a:ext cx="4359275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algn="l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建设背景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89648"/>
            <a:ext cx="12192000" cy="8572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9"/>
          <p:cNvSpPr txBox="1"/>
          <p:nvPr/>
        </p:nvSpPr>
        <p:spPr>
          <a:xfrm>
            <a:off x="101600" y="306705"/>
            <a:ext cx="7071360" cy="492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>
              <a:buSzPct val="100000"/>
            </a:pP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 启动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阶段</a:t>
            </a:r>
            <a:endParaRPr lang="zh-CN" altLang="en-US" sz="3200" b="1" dirty="0" smtClean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4905" y="962025"/>
            <a:ext cx="6402070" cy="6005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89648"/>
            <a:ext cx="12192000" cy="8572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9"/>
          <p:cNvSpPr txBox="1"/>
          <p:nvPr/>
        </p:nvSpPr>
        <p:spPr>
          <a:xfrm>
            <a:off x="101600" y="306705"/>
            <a:ext cx="7071360" cy="492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>
              <a:buSzPct val="100000"/>
            </a:pP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 开发过程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总图</a:t>
            </a:r>
            <a:endParaRPr lang="zh-CN" altLang="en-US" sz="3200" b="1" dirty="0" smtClean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片 -2147482622" descr="开发过程总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800" y="1190625"/>
            <a:ext cx="7463155" cy="4333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2555875" y="5524500"/>
            <a:ext cx="9373235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1">
                <a:latin typeface="宋体" pitchFamily="2" charset="-122"/>
                <a:ea typeface="宋体" pitchFamily="2" charset="-122"/>
              </a:rPr>
              <a:t>图表</a:t>
            </a:r>
            <a:r>
              <a:rPr lang="en-US" altLang="zh-CN" sz="1600" i="1">
                <a:latin typeface="宋体" pitchFamily="2" charset="-122"/>
                <a:ea typeface="宋体" pitchFamily="2" charset="-122"/>
              </a:rPr>
              <a:t>2  </a:t>
            </a:r>
            <a:r>
              <a:rPr lang="zh-CN" altLang="en-US" sz="1600" i="1">
                <a:latin typeface="宋体" pitchFamily="2" charset="-122"/>
                <a:ea typeface="宋体" pitchFamily="2" charset="-122"/>
              </a:rPr>
              <a:t>开发过程总图</a:t>
            </a:r>
            <a:endParaRPr lang="zh-CN" altLang="en-US" sz="1600" i="1">
              <a:latin typeface="宋体" pitchFamily="2" charset="-122"/>
              <a:ea typeface="宋体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1">
                <a:latin typeface="宋体" pitchFamily="2" charset="-122"/>
                <a:ea typeface="宋体" pitchFamily="2" charset="-122"/>
              </a:rPr>
              <a:t>注：</a:t>
            </a:r>
            <a:r>
              <a:rPr lang="en-US" altLang="zh-CN" sz="1600" i="1">
                <a:latin typeface="宋体" pitchFamily="2" charset="-122"/>
                <a:ea typeface="宋体" pitchFamily="2" charset="-122"/>
              </a:rPr>
              <a:t>SRS</a:t>
            </a:r>
            <a:r>
              <a:rPr lang="zh-CN" altLang="en-US" sz="1600" i="1">
                <a:latin typeface="宋体" pitchFamily="2" charset="-122"/>
                <a:ea typeface="宋体" pitchFamily="2" charset="-122"/>
              </a:rPr>
              <a:t>：软件需求规格 </a:t>
            </a:r>
            <a:r>
              <a:rPr lang="en-US" altLang="zh-CN" sz="1600" i="1">
                <a:latin typeface="宋体" pitchFamily="2" charset="-122"/>
                <a:ea typeface="宋体" pitchFamily="2" charset="-122"/>
              </a:rPr>
              <a:t>   HLD</a:t>
            </a:r>
            <a:r>
              <a:rPr lang="zh-CN" altLang="en-US" sz="1600" i="1">
                <a:latin typeface="宋体" pitchFamily="2" charset="-122"/>
                <a:ea typeface="宋体" pitchFamily="2" charset="-122"/>
              </a:rPr>
              <a:t>：高层设计 </a:t>
            </a:r>
            <a:r>
              <a:rPr lang="en-US" altLang="zh-CN" sz="1600" i="1">
                <a:latin typeface="宋体" pitchFamily="2" charset="-122"/>
                <a:ea typeface="宋体" pitchFamily="2" charset="-122"/>
              </a:rPr>
              <a:t>  DD</a:t>
            </a:r>
            <a:r>
              <a:rPr lang="zh-CN" altLang="en-US" sz="1600" i="1">
                <a:latin typeface="宋体" pitchFamily="2" charset="-122"/>
                <a:ea typeface="宋体" pitchFamily="2" charset="-122"/>
              </a:rPr>
              <a:t>：详细设计</a:t>
            </a:r>
            <a:endParaRPr lang="zh-CN" altLang="en-US" sz="1600" i="1">
              <a:latin typeface="宋体" pitchFamily="2" charset="-122"/>
              <a:ea typeface="宋体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i="1">
                <a:latin typeface="宋体" pitchFamily="2" charset="-122"/>
                <a:ea typeface="宋体" pitchFamily="2" charset="-122"/>
              </a:rPr>
              <a:t>    SRC</a:t>
            </a:r>
            <a:r>
              <a:rPr lang="zh-CN" altLang="en-US" sz="1600" i="1">
                <a:latin typeface="宋体" pitchFamily="2" charset="-122"/>
                <a:ea typeface="宋体" pitchFamily="2" charset="-122"/>
              </a:rPr>
              <a:t>：代码 </a:t>
            </a:r>
            <a:r>
              <a:rPr lang="en-US" altLang="zh-CN" sz="1600" i="1">
                <a:latin typeface="宋体" pitchFamily="2" charset="-122"/>
                <a:ea typeface="宋体" pitchFamily="2" charset="-122"/>
              </a:rPr>
              <a:t>   UT Plan</a:t>
            </a:r>
            <a:r>
              <a:rPr lang="zh-CN" altLang="en-US" sz="1600" i="1">
                <a:latin typeface="宋体" pitchFamily="2" charset="-122"/>
                <a:ea typeface="宋体" pitchFamily="2" charset="-122"/>
              </a:rPr>
              <a:t>：单元测试计划</a:t>
            </a:r>
            <a:endParaRPr lang="zh-CN" altLang="en-US" sz="1600" i="1">
              <a:latin typeface="宋体" pitchFamily="2" charset="-122"/>
              <a:ea typeface="宋体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1">
                <a:latin typeface="宋体" pitchFamily="2" charset="-122"/>
                <a:ea typeface="宋体" pitchFamily="2" charset="-122"/>
              </a:rPr>
              <a:t>注：“归档”在配置管理过程统一说明。</a:t>
            </a:r>
            <a:endParaRPr lang="zh-CN" altLang="en-US" sz="1600" i="1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89648"/>
            <a:ext cx="12192000" cy="8572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9"/>
          <p:cNvSpPr txBox="1"/>
          <p:nvPr/>
        </p:nvSpPr>
        <p:spPr>
          <a:xfrm>
            <a:off x="101600" y="306705"/>
            <a:ext cx="7071360" cy="492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1">
              <a:buSzPct val="100000"/>
            </a:pP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sym typeface="+mn-ea"/>
              </a:rPr>
              <a:t>需求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sym typeface="+mn-ea"/>
              </a:rPr>
              <a:t>分析</a:t>
            </a:r>
            <a:endParaRPr lang="zh-CN" altLang="en-US" sz="3200" b="1" dirty="0">
              <a:solidFill>
                <a:schemeClr val="bg1"/>
              </a:solidFill>
              <a:latin typeface="+mn-ea"/>
              <a:sym typeface="+mn-ea"/>
            </a:endParaRPr>
          </a:p>
        </p:txBody>
      </p:sp>
      <p:pic>
        <p:nvPicPr>
          <p:cNvPr id="4" name="图片 -2147482621" descr="需求分析阶段活动总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" y="1800860"/>
            <a:ext cx="9275445" cy="20427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3697605" y="44218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1">
                <a:latin typeface="宋体" pitchFamily="2" charset="-122"/>
                <a:ea typeface="宋体" pitchFamily="2" charset="-122"/>
              </a:rPr>
              <a:t>需求分析阶段活动总图</a:t>
            </a:r>
            <a:endParaRPr lang="zh-CN" altLang="en-US" sz="1600" i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35100" y="505618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itchFamily="2" charset="-122"/>
                <a:ea typeface="宋体" pitchFamily="2" charset="-122"/>
              </a:rPr>
              <a:t>相关模板：</a:t>
            </a:r>
            <a:endParaRPr lang="zh-CN" altLang="en-US" sz="1600" b="1">
              <a:latin typeface="宋体" pitchFamily="2" charset="-122"/>
              <a:ea typeface="宋体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itchFamily="2" charset="-122"/>
                <a:ea typeface="宋体" pitchFamily="2" charset="-122"/>
              </a:rPr>
              <a:t>《</a:t>
            </a:r>
            <a:r>
              <a:rPr lang="zh-CN" altLang="en-US" sz="1600">
                <a:latin typeface="宋体" pitchFamily="2" charset="-122"/>
                <a:ea typeface="宋体" pitchFamily="2" charset="-122"/>
              </a:rPr>
              <a:t>软件需求规格说明书</a:t>
            </a:r>
            <a:r>
              <a:rPr lang="en-US" altLang="zh-CN" sz="1600">
                <a:latin typeface="宋体" pitchFamily="2" charset="-122"/>
                <a:ea typeface="宋体" pitchFamily="2" charset="-122"/>
              </a:rPr>
              <a:t>》</a:t>
            </a:r>
            <a:endParaRPr lang="en-US" altLang="zh-CN" sz="160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YWMwYzc0MzQ3YWUwNjYyN2UyYjc3MzNlYzliMzIwODkifQ=="/>
  <p:tag name="resource_record_key" val="{&quot;70&quot;:[3312256,3314181,3315857,3312207]}"/>
</p:tagLst>
</file>

<file path=ppt/theme/theme1.xml><?xml version="1.0" encoding="utf-8"?>
<a:theme xmlns:a="http://schemas.openxmlformats.org/drawingml/2006/main" name="Office Theme">
  <a:themeElements>
    <a:clrScheme name="灰度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4276AA"/>
      </a:accent1>
      <a:accent2>
        <a:srgbClr val="1689A0"/>
      </a:accent2>
      <a:accent3>
        <a:srgbClr val="3FA692"/>
      </a:accent3>
      <a:accent4>
        <a:srgbClr val="5167A4"/>
      </a:accent4>
      <a:accent5>
        <a:srgbClr val="5E5CA2"/>
      </a:accent5>
      <a:accent6>
        <a:srgbClr val="768395"/>
      </a:accent6>
      <a:hlink>
        <a:srgbClr val="4276AA"/>
      </a:hlink>
      <a:folHlink>
        <a:srgbClr val="BFBFBF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marL="0" algn="l">
          <a:defRPr sz="24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</Words>
  <Application>WPS Office WWO_dingtalk_20240221035043-c523bba0e7</Application>
  <PresentationFormat>宽屏</PresentationFormat>
  <Paragraphs>47</Paragraphs>
  <Slides>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汉仪旗黑KW 55S</vt:lpstr>
      <vt:lpstr>庞门正道标题体</vt:lpstr>
      <vt:lpstr>Calibri</vt:lpstr>
      <vt:lpstr>ITC Avant Garde Std Bk</vt:lpstr>
      <vt:lpstr>Source Sans Pro Light</vt:lpstr>
      <vt:lpstr>-apple-system</vt:lpstr>
      <vt:lpstr>Times New Roman</vt:lpstr>
      <vt:lpstr>Noto Sans Thai</vt:lpstr>
      <vt:lpstr>汉仪书宋二KW</vt:lpstr>
      <vt:lpstr>Kingsoft Confetti</vt:lpstr>
      <vt:lpstr>Noto Serif CJK SC</vt:lpstr>
      <vt:lpstr>黑体</vt:lpstr>
      <vt:lpstr>Calibri</vt:lpstr>
      <vt:lpstr>宋体</vt:lpstr>
      <vt:lpstr>宋体</vt:lpstr>
      <vt:lpstr>Times New Roman</vt:lpstr>
      <vt:lpstr>Verdana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 Chunxu</dc:creator>
  <cp:lastModifiedBy>段康容</cp:lastModifiedBy>
  <dcterms:created xsi:type="dcterms:W3CDTF">2025-11-04T01:21:05Z</dcterms:created>
  <dcterms:modified xsi:type="dcterms:W3CDTF">2025-11-04T01:21:05Z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D8FE869CE897474A81571EE5107E889A_12</vt:lpwstr>
  </property>
  <property fmtid="{D5CDD505-2E9C-101B-9397-08002B2CF9AE}" pid="3" name="KSOProductBuildVer">
    <vt:lpwstr>2052-0.0.0.0</vt:lpwstr>
  </property>
</Properties>
</file>